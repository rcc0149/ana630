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E048A-A41A-4F4F-B112-4D179B0F46A9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53DDC-3BE7-46EE-A1BE-94553CBC3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1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53DDC-3BE7-46EE-A1BE-94553CBC30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49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7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6BE68-AF97-B5CF-3132-C8BF4949A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10835148" cy="359860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SECOM D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ataset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Manufacturing Process</a:t>
            </a:r>
            <a:b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Manufacturing Quality Perspective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1C256-5CD8-407C-8FDC-095CFB4D7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6064" y="4488426"/>
            <a:ext cx="8799872" cy="90948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Hypothetical </a:t>
            </a:r>
            <a:r>
              <a:rPr lang="en-US" sz="1800" cap="none" dirty="0">
                <a:ln>
                  <a:solidFill>
                    <a:schemeClr val="accent1"/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Defect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Enhancement Through The Careful Development Of A Robust Machine Learning Model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48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76E6-8E76-A5A2-FB8A-298F4956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49E5-4309-CFEC-593A-167517989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defect detection in a semiconductor manufacturing process by developing a robust machine learning model using the hypothetical SECOM dataset, leveraging strategic data preprocessing, various advanced feature selection techniques to identify the most predictive features, and the optimization of a XGBoost classifier to achieve a relatively high target F1-score, ensuring a balance of simplicity, interpretability, and high performance for practical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291001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35F3-0A5B-EB0F-B8C0-B7985BB3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SECOM Dataset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(1567, 592)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F689-25F0-B7C1-5A87-2DD3ED43D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1,567 records each with 592 total features.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presented in this case represents a selection of such features where each record represents a single production entity with associated measured features and a simple pass/fail yield for in house line testing.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Target column, “ –1” corresponds to a pass and “1” corresponds to a failure, and the Time stamp column is for that specific test point.  This leaves 590 features potentially derived from process data collection for each production entity.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are labeled numerically 1 through 590 and intentionally have no dictionary describing what they are specifically.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70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5F74-830D-3587-3C3A-3AEE8968A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9379-634D-6BBE-E402-0B7A2CD3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Generate descriptive statistics for dataset variables.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Define outcome variable (Target) as Y and the explanatory variables (590) as X.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Rename Y values to a binary format where “-1” becomes “0”, and “1” remains “1”.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9DC96-8AC1-ED47-1DC1-9427D3E7E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13" y="2429691"/>
            <a:ext cx="8040773" cy="228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7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E64E-8ABC-A074-A233-CBB0672C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8BFF-35A1-8D34-6D12-2106BBF2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EDE0-1A32-D726-58AE-0ABDA57A3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Assess missing values in X.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shows a presence of missing values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approximately 91.2% of the features.  4.5% of X contains missing values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Seemingly reasonable justification to merit further investigation.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93199-BCCA-468A-9762-93E64B70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82" y="2604876"/>
            <a:ext cx="5359636" cy="123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65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9E636-368E-AF0F-A0A8-3C9B7C90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5ADA-4755-57B1-FA29-8C9CB270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B8FA-C1CE-71F4-EABE-D957ADE0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5: Group X features by number of missing values to explore patterns.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missing values played out in 22 distinct layers, possibly indicating some other association between the features in each layer.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2639E-192B-F1CF-4CD3-8BAF2CE00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67" y="2264938"/>
            <a:ext cx="8915400" cy="282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1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FE2EA-12CC-FD20-7699-2AA01C50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C6E0-FC9C-9427-7C3B-9A304975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E71B-2EE6-3FD4-6CB2-4F0FAA79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6: Identify constant features in X for potential removal.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Identify features with a Standard Deviation of 0.</a:t>
            </a:r>
          </a:p>
          <a:p>
            <a:pPr lvl="2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their constant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designation by checking to see if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minimum and maximum value are equal.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116 features were identified as constant features for potential removal.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61C5BB-E9DC-B9E1-D9EC-74043BC39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84" y="3095580"/>
            <a:ext cx="5725324" cy="954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02B12-E29D-6088-B953-2925DEF1F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84" y="4151406"/>
            <a:ext cx="5725324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2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595E3-CFB4-23C6-EBD0-06D9E3F7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7D96-7661-9347-DAB1-64414158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7AAB-9A4E-2492-C8A9-0D624FCDE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7: Reconcile constant features with Y.</a:t>
            </a: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chi-square test for constant value distribution vs. expected baseline for pass/fail.</a:t>
            </a:r>
          </a:p>
          <a:p>
            <a:pPr lvl="2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baseline for pass/fail is based on the total number of failures (104) divided by total number of records (1,567) equaling 0.0664 or 6.64%.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chi-square test for constant feature missingness vs. Y.</a:t>
            </a:r>
          </a:p>
          <a:p>
            <a:pPr lvl="1">
              <a:spcBef>
                <a:spcPts val="1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116 constant features (their constant value and missingness) were not predictive.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78238-A457-17E2-8C55-57F463F09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94" y="3846350"/>
            <a:ext cx="868801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2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381BF-0F1C-8E9C-D88C-99BC8EF0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A465-624D-7D90-1EF4-DB5B0151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6E6C-E7AC-6E34-3307-76D43B761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Remove identified constant non-predictive features from X.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9: Generate summary statistics of missingness in features remaining in X.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10: Reconcile X remaining features 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with 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chi-square test for feature missingness vs. Y.</a:t>
            </a:r>
          </a:p>
          <a:p>
            <a:pPr lvl="1">
              <a:spcBef>
                <a:spcPts val="1000"/>
              </a:spcBef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 features were found to have predictive missingness.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5A859-51D5-339A-73B8-F423C92B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93" y="2102286"/>
            <a:ext cx="3982006" cy="238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34AB62-FB1C-3684-EFDB-CB4860031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843" y="2761139"/>
            <a:ext cx="3562847" cy="924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44A87-D35D-44D1-1993-0DE909F3B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71" y="4517557"/>
            <a:ext cx="8926257" cy="100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2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E205-E0F6-E9CD-A5AA-A4686F6C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BC79-B919-3E05-989A-F1618F9B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CEFF3-807E-3059-9363-CE77DCBF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11: Generate descriptive statistics for pass, fail, and combined remaining data separately.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/>
          </a:p>
          <a:p>
            <a:pPr lvl="1">
              <a:spcBef>
                <a:spcPts val="1000"/>
              </a:spcBef>
              <a:defRPr/>
            </a:pPr>
            <a:endParaRPr lang="en-US" dirty="0"/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44740-E134-3850-B5F7-8CCDE897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886" y="2312610"/>
            <a:ext cx="3410426" cy="320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8B180E-6F29-768F-70F4-53AF0CFE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312610"/>
            <a:ext cx="3372321" cy="3200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75DFE6-42FE-C7FD-6B07-EDA1E2C50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777" y="2312610"/>
            <a:ext cx="349616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0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4D49-2E34-8B6C-0DDB-517BD44F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720E-158B-4732-B2E2-73BD4B644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1744-EB44-1C90-67FC-75EFB7B33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165728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12: Generate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 visualization of missingness layers across samples.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1">
              <a:spcBef>
                <a:spcPts val="1000"/>
              </a:spcBef>
              <a:defRPr/>
            </a:pPr>
            <a:endParaRPr lang="en-US" dirty="0"/>
          </a:p>
          <a:p>
            <a:pPr lvl="1">
              <a:spcBef>
                <a:spcPts val="1000"/>
              </a:spcBef>
              <a:defRPr/>
            </a:pPr>
            <a:endParaRPr lang="en-US" dirty="0"/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64325-0B2D-AB7F-E776-FCDD6C41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12" y="2281458"/>
            <a:ext cx="9457509" cy="375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45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F459-FD30-2946-7D19-8E65B8C0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31AC-791D-806D-2E48-8A1BA366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C9781-65FE-90A9-028F-C84973B5D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5"/>
            <a:ext cx="10691265" cy="434907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13: Create a missingness indicator… 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each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missingness features with 260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or higher counts.  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the late utilization of the layers 949NA, 1018NA, and 1341NA, after sample record 800.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9B816-11CD-ECBE-A940-BDC765EF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629" y="3095897"/>
            <a:ext cx="2800741" cy="301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5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36A8-1A98-A459-AF43-9C444D4D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6122-F33D-8834-28F6-77FD44DA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BDF7A-31BB-7263-B119-FA58F615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5"/>
            <a:ext cx="10691265" cy="434907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14: Create a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calculating the proportion of NA features in a sample record.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15: Remove features associated with layers 1341NA and 1429NA, given their insufficient number of values to provide some meaningful predictive influence.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474 features + 10 previously added features – 8 removed features = 476 features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3BD48-FE7D-45BF-8E70-5FA6AA74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2393785"/>
            <a:ext cx="5696745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3E39D-8A7D-6C39-39C2-3CE21AC8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756" y="4138858"/>
            <a:ext cx="7592485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4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44940-F842-65BE-0121-7B564781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8F6F-4824-C7D7-3C5D-97CC5925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408A-4117-01F0-7A19-C1727173F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5"/>
            <a:ext cx="10691265" cy="434907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16: Remove features with greater than or equal to 1,341 zero values and zero as a minimum value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given their insufficient number of non-zero values to provide some meaningful predictive influence.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1686A-94B9-A7AD-D089-BDE7E8223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445" y="3229457"/>
            <a:ext cx="873564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0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B745-04A6-4283-2BA0-F6538CEA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B88E-BC5B-D268-F517-24419E66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Preprocessing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A5EA-FDDD-FA59-44DE-D48402F5E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5"/>
            <a:ext cx="10691265" cy="4349079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17: Covert feature zero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values based on at least one of three criterion, prior to imputation.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 with a minimum zero value and significant left skew (&lt; -0.5)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 with a negative minimum value, a maximum zero value, and a significant right skew (&gt; 0.5)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zero falls outside non-zero distribution (IQR*1.5), with exception for less than an absolute maximum 0.05 value.</a:t>
            </a:r>
          </a:p>
          <a:p>
            <a:pPr lvl="1">
              <a:spcBef>
                <a:spcPts val="1000"/>
              </a:spcBef>
              <a:defRPr/>
            </a:pPr>
            <a:endParaRPr lang="en-US" sz="1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sz="1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18: Impute all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values…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features in layers 1NA to 794NA using feature pass and fail means.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features in 949NA and 1018NA use a hybrid approach…</a:t>
            </a:r>
          </a:p>
          <a:p>
            <a:pPr lvl="2">
              <a:spcBef>
                <a:spcPts val="1000"/>
              </a:spcBef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sample records &lt; 800, use feature mean.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sample records &gt;= 800, use feature pass and fail means.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imputation completed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74025-1D96-CE07-CE3B-42D8F1042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72" y="3219015"/>
            <a:ext cx="7644855" cy="479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6CD1D9-7409-9ABF-854A-F39384AE4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01" y="5192850"/>
            <a:ext cx="5410955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15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BB2D-3DB2-E56C-8DDF-69D1452B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6676-DC49-8B80-D1E3-62170CF3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5F21-5C67-C78B-704B-FE5848D70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5"/>
            <a:ext cx="10691265" cy="4349079"/>
          </a:xfrm>
        </p:spPr>
        <p:txBody>
          <a:bodyPr>
            <a:normAutofit fontScale="925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Step 1: Use feature selection methods to reduce the imputed feature dataset (476) to 100 features.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 Method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['15', '22', '23', '27', '29', '33', '34', '39', '41', '57', '59', '60', '64', '65', '66', '69', '71', '77', '80', '91', '96', '101', '104', '112', '113', '122', '123', '124', '125', '126', '127', '128', '130', '131', '134', '160', '161', '164', '165', '166', '167', '181', '184', '197', '198', '200', '201', '206', '211', '248', '281', '295', '296', '299', '300', '301', '317', '320', '338', '349', '366', '431', '432', '435', '436', '437', '438', '453', '456', '461', '469', '470', '472', '478', '511', '512', '520', '543', '544', '548', '551', '552', '554', '555', '557', '558', '563', '566', '568', '570', '574', '576', 'missing_73', 'missing_74', 'missing_113', 'missing_248', 'missing_346', 'missing_347', 'missing_386', 'missing_520’]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Information Method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['3', '7', '20', '34', '35', '39', '41', '42', '56', '58', '66', '71', '73', '74', '89', '110', '111', '113', '120', '122', '123', '126', '127', '128', '129', '131', '135', '139', '226', '245', '246', '247', '248', '269', '274', '275', '276', '278', '289', '308', '309', '311', '332', '346', '347', '383', '385', '386', '406', '407', '408', '412', '413', '414', '417', '429', '444', '447', '448', '468', '478', '511', '518', '519', '520', '540', '542', '547', '548', '549', '550', '551', '552', '553', '554', '555', '556', '557', '558', '563', '564', '565', '566', '567', '568', '569', '570', '571', '572', '574', '575', '576', '577', '578', '579', '580', '581', '582', '584', '590’]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with Logistic Regression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['15', '20', '21', '27', '32', '33', '35', '36', '37', '38', '48', '59', '60', '65', '66', '76', '78', '82', '84', '87', '97', '99', '100', '103', '109', '112', '118', '122', '125', '127', '129', '130', '131', '133', '141', '143', '146', '147', '151', '157', '173', '175', '176', '178', '185', '196', '203', '205', '212', '214', '215', '217', '218', '219', '248', '269', '270', '278', '286', '291', '306', '311', '313', '317', '319', '322', '334', '337', '339', '341', '349', '350', '352', '356', '391', '407', '412', '417', '425', '438', '444', '446', '447', '449', '455', '456', '458', '476', '517', '525', '546', '547', '553', '557', '558', '564', '565', '567', '572', 'missing_113']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45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07FF-3D20-A9E3-9290-460822DB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2AE8-A7C8-0FFD-4F96-6A026B59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1806-1EE9-FF32-E951-CCFD5B825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 lnSpcReduction="10000"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with XGBoost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['1', '11', '17', '22', '30', '34', '49', '60', '65', '68', '73', '74', '79', '80', '82', '85', '89', '92', '93', '96', '97', '103', '104', '113', '116', '118', '119', '121', '125', '126', '128', '130', '134', '139', '141', '147', '151', '156', '164', '173', '185', '189', '197', '215', '219', '239', '240', '248', '249', '253', '280', '284', '292', '296', '299', '321', '346', '347', '362', '363', '368', '386', '394', '417', '424', '427', '429', '431', '434', '438', '469', '470', '478', '489', '512', '520', '524', '547', '548', '549', '550', '552', '555', '556', '558', '562', '563', '564', '565', '567', '568', '569', '570', '576', '580', '581', '582', '588', 'missing_73', 'missing_113’]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Method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['248', '520', '386', '113', '347', 'missing_520', '74', 'missing_73', 'missing_347', 'missing_74', '346', '563', '581', '60', '565', '73', '478', '65', 'missing_346', '580', '427', '349', '566', '567', 'missing_113', '41', '133', '552', '342', '66', '570', '206', '555', '268', '63', '153', '558', '589', 'missing_386', '568', '438', '56', '249', '442', '289', '569', '3', '511', '52', '299', '68', '64', '332', '188', '540', '27', '412', '426', '406', 'missing_248', '154', '29', '164', '288', '5', '383', '121', '461', '208', '474', '28', '204', '108', '81', '495', '302', '353', '148', '578', '10', '445', '79', '518', '125', '338', '22', '71', '421', '524', '37', '200', '411', '120', '362', '39', '166', '122', '139', '112', '430’]</a:t>
            </a:r>
          </a:p>
          <a:p>
            <a:pPr lvl="1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Regularization (Lasso) Method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features: ['1', '2', '3', '4', '15', '16', '22', '23', '24', '25', '41', '47', '52', '56', '60', '63', '65', '68', '69', '71', '72', '73', '74', '89', '91', '116', '134', '136', '137', '138', '139', '141', '152', '153', '160', '162', '163', '184', '188', '189', '201', '205', '209', '224', '226', '251', '253', '269', '275', '295', '296', '297', '298', '341', '364', '414', '419', '420', '424', '426', '429', '432', '433', '434', '437', '439', '440', '457', '461', '468', '469', '472', '473', '474', '478', '483', '484', '485', '486', '487', '488', '489', '490', '491', '495', '497', '500', '501', '511', '512', '520', '542', '548', '556', '562', '563', '570', '573', '578', '582']</a:t>
            </a: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241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57A05-BFD7-2642-FA10-091E37E3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EE92-CD8B-B9E0-149E-18A55E22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AF07-1AE9-C545-B7C6-5DCEC22B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 lnSpcReduction="10000"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Threshold + SelectKBest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315 features (Variance Threshold of 0.01): ['1', '2', '3', '4', '5', '7', '13', '15', '16', '17', '19', '20', '22', '23', '24', '25', '26', '27', '28', '29', '30', '32', '33', '34', '35', '36', '37', '38', '39', '40', '41', '42', '44', '45', '46', '47', '48', '49', '51', '52', '56', '60', '61', '62', '63', '64', '65', '66', '67', '68', '69', '71', '72', '73', '74', '84', '89', '91', '97', '99', '111', '112', '116', '118', '121', '123', '124', '125', '126', '127', '128', '129', '130', '134', '135', '136', '137', '138', '139', '140', '141', '143', '149', '151', '152', '153', '155', '156', '160', '161', '162', '163', '164', '165', '166', '167', '168', '170', '171', '176', '178', '181', '182', '183', '184', '185', '186', '188', '189', '196', '197', '198', '199', '200', '201', '202', '203', '204', '205', '206', '208', '209', '219', '224', '226', '246', '247', '251', '253', '256', '269', '270', '271', '272', '273', '274', '275', '276', '278', '284', '286', '287', '288', '290', '291', '295', '296', '297', '298', '300', '301', '302', '303', '313', '317', '319', '320', '322', '324', '325', '333', '334', '335', '336', '337', '338', '339', '340', '341', '342', '344', '345', '346', '347', '357', '362', '364', '384', '385', '389', '391', '407', '408', '409', '410', '411', '412', '413', '414', '416', '417', '418', '419', '420', '421', '422', '424', '425', '426', '427', '428', '429', '430', '431', '432', '433', '434', '435', '436', '437', '438', '439', '440', '441', '442', '443', '444', '445', '446', '447', '449', '453', '454', '455', '456', '457', '458', '460', '461', '468', '469', '470', '471', '472', '473', '474', '475', '476', '477', '478', '480', '481', '483', '484', '485', '486', '487', '488', '489', '490', '491', '492', '494', '495', '496', '497', '498', '500', '501', '511', '512', '517', '518', '519', '520', '521', '523', '524', '525', '526', '527', '528', '540', '541', '542', '546', '547', '548', '549', '550', '551', '552', '553', '554', '555', '556', '557', '558', '560', '562', '563', '564', '565', '567', '569', '570', '571', '572', '573', '574', '575', '577', '578', '582', '586', '590', 'missing_73', 'missing_74', 'missing_113', 'missing_248', 'missing_346', 'missing_347', 'missing_386', 'missing_520', '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missing_late_utilization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’]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100 features (Variance + SelectKBest): ['15', '22', '23', '27', '29', '32', '33', '34', '39', '41', '60', '64', '65', '66', '69', '71', '91', '112', '116', '123', '124', '125', '126', '127', '128', '130', '134', '139', '160', '161', '164', '165', '166', '167', '176', '181', '182', '184', '189', '197', '198', '200', '201', '204', '206', '295', '296', '300', '301', '302', '317', '320', '334', '338', '342', '412', '417', '418', '424', '431', '432', '434', '435', '436', '437', '438', '453', '456', '461', '469', '470', '472', '476', '478', '485', '489', '511', '512', '520', '546', '548', '551', '552', '554', '555', '557', '558', '563', '570', '574', '578', 'missing_73', 'missing_74', 'missing_113', 'missing_248', 'missing_346', 'missing_347', 'missing_386', 'missing_520', '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missing_late_utilization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785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BB34A-9397-D852-9475-7702D4532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AEE5-CF80-DF72-18C1-433E1383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AE455E-DAFF-27A7-8881-85F2C6510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980" y="2331085"/>
            <a:ext cx="4121354" cy="370753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3D9D0-B428-3C9E-3166-2778B2D49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42" y="2331085"/>
            <a:ext cx="3569472" cy="3636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559EB8-D73A-D918-D954-FABEE5B92D74}"/>
              </a:ext>
            </a:extLst>
          </p:cNvPr>
          <p:cNvSpPr txBox="1"/>
          <p:nvPr/>
        </p:nvSpPr>
        <p:spPr>
          <a:xfrm>
            <a:off x="2426423" y="1763486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Summary of Overlays and a Venn Diagram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741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BEE1-64BC-7683-A4B0-6A68509D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2208-8179-49B9-7BEF-D6CAC009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420C6-36AD-817B-FEFD-224D6AA0EAFD}"/>
              </a:ext>
            </a:extLst>
          </p:cNvPr>
          <p:cNvSpPr txBox="1"/>
          <p:nvPr/>
        </p:nvSpPr>
        <p:spPr>
          <a:xfrm>
            <a:off x="3049089" y="1763486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F1-Score by Feature Selection Method Bar Chart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1E5E651-D177-6C69-4ADA-E2A865FD4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7999" y="2298941"/>
            <a:ext cx="6096536" cy="3636963"/>
          </a:xfrm>
        </p:spPr>
      </p:pic>
    </p:spTree>
    <p:extLst>
      <p:ext uri="{BB962C8B-B14F-4D97-AF65-F5344CB8AC3E}">
        <p14:creationId xmlns:p14="http://schemas.microsoft.com/office/powerpoint/2010/main" val="1891130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7209-0D94-E9ED-2355-E94D1D4D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52A1-1884-D264-58F5-E71A062E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89B4E-84B5-26BC-384E-17544156A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Use Variance Inflation Factor (VIF) analysis and Backward Elimination with Logistic Regression with each method feature set to determine best LR model and corresponding F1-Score.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with Logistic Regression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 Results: removed 42 features due to high VIF (&gt;10), ['35', '37', '38', '66', '118', '143', '151', '173', '175', '176', '178', '203', '205', '212', '214', '218', '269', '278', '286', '311', '313', '319', '322', '334', '337', '339', '341', '350', '352', '356', '391', '407', '444', '446', '447', '449', '455', '458', '476', '525', '565', '567’]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Elimination with Logistic Regression Results: 18 significant features, ['15', '27', '32', '33', '36', '59', '60', '65', '76', '100', '112', '122', '130', '147', '412', '417', '438', '558’], Pseudo R-square: 0.1954, Log-Likelihood: -307.81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with significant features: 0.2575</a:t>
            </a: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9998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6C6B-E3B5-1FDF-D8DA-D2C3225C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BA34-A317-14C6-0901-B9292798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72B5-1319-7AF7-D0C2-BF2AD1565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with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 Results: removed 27 features due to high VIF (&gt;10), ['17', '118', '156', '164', '185', '248', '253', '284', '299', '321', '346', '347', '386', '429', '478', '520', '550', '552', '555', '558', '565', '567', '568', '569', '570', '580', '581']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Elimination with Logistic Regression Results: 14 significant features, ['22', '60', '65', '74', '79', '125', '130', '147', '417', '431', '438', '512', '563', '576’], Pseudo R-square: 0.1916, Log-Likelihood: -309.26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with significant features: 0.2604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Regularization (Lasso)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 Results: removed 21 features due to high VIF (&gt;10), ['47', '68', '71', '141', '153', '160', '162', '163', '205', '226', '295', '296', '297', '298', '341', '364', '414', '426', '432', '437', '478']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Elimination with Logistic Regression Results: 14 significant features, ['15', '22', '60', '65', '74', '134', '434', '512', '542’], Pseudo R-square: 0.1377, Log-Likelihood: -329.88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with significant features: 0.2233</a:t>
            </a: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777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BCF57-AF52-EAFD-C46A-8C46B946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E079-26D0-D268-7708-495417F2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81ED-600F-C10C-9BED-22AD106AE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 lnSpcReduction="10000"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+ SelectKBest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 Results: removed 59 features due to high VIF (&gt;10), ['22', '27', '64', '65', '66', '71', '123', '128', '139', '160', '161', '164', '165', '166', '167', '181', '184', '197', '198', '200', '204', '206', '295', '296', '300', '301', '302', '320', '334', '342', '412', '431', '432', '435', '436', '437', '438', '453', '456', '470', '472', '476', '478', '551', '552', '554', '555', '557', '558', '574', '578', 'missing_73', 'missing_74', 'missing_113', 'missing_248', 'missing_346', 'missing_347', 'missing_386', 'missing_520']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Elimination with Logistic Regression Results: 14 significant features, ['15', '23', '60', '112', '125', '130', '176', '317', '417', '461', '489', '511', '512', '570’], Pseudo R-square: 0.1930, Log-Likelihood: -308.72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with significant features: 0.2729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 Results: removed 57 features due to high VIF (&gt;10), ['27', '71', '122', '123', '124', '128', '160', '161', '164', '165', '166', '167', '181', '184', '197', '198', '200', '206', '211', '248', '295', '296', '299', '300', '301', '320', '349', '431', '432', '435', '436', '437', '438', '453', '456', '470', '472', '478', '520', '551', '552', '554', '555', '557', '558', '566', '568', '574', '576', 'missing_73', 'missing_74', 'missing_113', 'missing_248', 'missing_346', 'missing_347', 'missing_386', 'missing_520']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Elimination with Logistic Regression Results: 14 significant features, ['15', '22', '57', '60', '64', '65', '101', '112', '125', '130', '281', '512', '570'], Pseudo R-square: 0.1678, Log-Likelihood: -318.36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with significant features: 0.2197</a:t>
            </a: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134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8864-4894-1363-9A28-3A7D0FB0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FD32-A022-EEC9-492D-59AC9304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3E0D-26CE-BC88-8B9C-60072FB3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Use the Random Forest Classifier with Mutual Info method feature set to determine top 20 most important features and corresponding F1-Score, preserving potential predictive non-linear features.</a:t>
            </a: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E6F5A-051F-35DA-04AA-B7CF6755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30" y="2717074"/>
            <a:ext cx="4127539" cy="3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98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0713-2435-2DA6-2E2C-F578ACC6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16FD-E6CC-642C-6421-26B7C852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1E2D1-2884-BD16-8061-AA44856BA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Train models utilizing XGBoost for three of the previously used feature sets (Mutual Info, RFE, and SelectKBest) and introduce three alternative feature selection methods (Boruta, SHAP, and L1 via XGBoost).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Info features trained with XGBoost.</a:t>
            </a: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58DA3-9607-592E-EFE7-9CAD518C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983502"/>
            <a:ext cx="5252357" cy="3109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26DB57-3A59-2882-BB2A-D9AB3E2E1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568" y="3859647"/>
            <a:ext cx="2608245" cy="14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85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6C93-15B2-1A9C-6ED6-AD1AF524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0AC2-7C27-60DF-CC46-C3A11561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6A23-F481-9623-A8A7-3E13F6FC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457200" lvl="1" indent="0">
              <a:spcBef>
                <a:spcPts val="1000"/>
              </a:spcBef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features trained with XGBoost Classifier.</a:t>
            </a: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F35B8-3A01-50F0-64C3-AD17AA4A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208" y="2845033"/>
            <a:ext cx="5496692" cy="326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29403E-2C95-DA77-91F7-A3964D990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79" y="3956213"/>
            <a:ext cx="2721154" cy="14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26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1EA8-9B5F-E7A0-4DA7-A3E550AF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10BA-128E-C5A8-27D5-60E90520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B13E6-83A6-CF3C-4A69-38D2138D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457200" lvl="1" indent="0">
              <a:spcBef>
                <a:spcPts val="1000"/>
              </a:spcBef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 features trained with XGBoost Classifier.</a:t>
            </a: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03F97-B6C3-D81A-CFDF-F93F6417B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208" y="2854559"/>
            <a:ext cx="5496692" cy="3258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95686-CE79-77FF-F380-77172B5B9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687" y="3751912"/>
            <a:ext cx="3940469" cy="11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23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89D5-BA91-A756-2E54-466E8538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B5E1-858B-A96B-7C36-5DE736D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2C86-7FDD-B8E7-FA50-457DE3D0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Boruta features trained with XGBoost Classifier.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Boruta-Selected 28 Features: ['17', '22', '34', '60', '65', '68', '74', '96', '113', '125', '141', '151', '240', '248', '284', '346', '347', '424', '427', '524', '555', '563', '565', '569', '570', '581', 'missing_73', 'missing_113']</a:t>
            </a:r>
          </a:p>
          <a:p>
            <a:pPr lvl="3">
              <a:spcBef>
                <a:spcPts val="1000"/>
              </a:spcBef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7882B-A1C2-4F42-C0EA-BFC3FE93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208" y="2844492"/>
            <a:ext cx="5487166" cy="32484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F221D3-55E5-FBF5-9CCD-497452F03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219" y="3934851"/>
            <a:ext cx="2728472" cy="12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4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F734-F722-7733-2AC1-0F5D6E7D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51A7-6F15-E236-7A7E-7D32ACD4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FAC4-1694-B658-CBF6-0D0847F35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features trained with XGBoost Classifier.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SHAP-Selected 100 Features: ['113', '346', '248', '60', '74', '73', '581', '569', '563', 'missing_73', '556', '564', '11', '582', '558', '386', '1', '347', '548', '570', '22', 'missing_113', '470', '567', '164', '478', '299', '91', '520', '512', '308', '461', '572', '160', '547', '249', '576', '492', '103', '313', '568', '555', '134', '554', '46', '301', '163', '487', '566', '206', '182', '432', '549', '352', '173', '580', '426', '185', '288', '128', '552', '15', '87', '272', '284', '114', '17', '557', '172', '297', '485', '104', '96', '292', '41', '117', '427', '80', '565', '447', '141', '153', '551', '588', '589', '489', '161', '123', '147', '438', '151', '125', '34', '146', '19', '333', '5', '181', '420', '240']</a:t>
            </a:r>
            <a:r>
              <a:rPr lang="en-US" dirty="0"/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C78B5-D069-D514-C927-53C1B3FF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074" y="3660874"/>
            <a:ext cx="4102826" cy="2451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B264E5-6135-C5BE-AE24-BE3A1D34C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958" y="3920562"/>
            <a:ext cx="2440106" cy="125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5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ED3B-CD4F-9112-D854-FA28FC1A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3592-53EE-4F65-88C9-2DDDE25E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D7E94-013B-A01D-7959-DF135B215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features trained with XGBoost Classifier.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L1-Selected 100 Features: ['missing_113', '248', '570', '15', 'missing_73', '34', '347', '154', '563', '60', '377', '300', '284', '569', '21', '391', '91', '188', '565', '73', '337', '74', '213', '113', '291', '346', '92', '68', '24', '552', '90', '125', '525', '524', '548', '131', '547', '556', '89', '490', '349', '130', '116', '65', '103', '341', '368', '121', '118', '575', '105', '469', '22', '581', '424', '564', '491', '582', '30', '474', '3', '189', '148', '299', '319', '486', '17', '339', '555', '566', '576', '476', '160', '63', '96', '317', '572', '278', '93', '23', '80', '206', '432', '567', '147', '59', '477', '431', '20', '85', '114', '38', '41', '332', '11', '478', '308', '151', '172', '511']</a:t>
            </a: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DD728-99A5-66BA-9167-0840C857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86" y="3643149"/>
            <a:ext cx="4142014" cy="246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EDFD5-8516-38DC-04A5-BD1EC1DCF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251" y="4251894"/>
            <a:ext cx="2321836" cy="12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15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F496-6D03-305E-3724-9529476E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258D-600D-8128-CBBE-018FA3B7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E4E3-045B-42D1-9752-176BF039A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Optimize models utilizing XGBoost by utilizing GridSearchCV to determine appropriate grid parameters.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Info features optimized with XGBoost. Best F1-Score (Grid Search, MI Features): 0.7525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(MI Features): {'gamma': 0, 'learning_rate': 0.1, 'max_depth': 6, 'n_estimators': 120, 'reg_alpha': 0, 'reg_lambda': 0.1, 'scale_pos_weight': 14, 'subsample': 1.0}</a:t>
            </a:r>
          </a:p>
          <a:p>
            <a:pPr lvl="2">
              <a:spcBef>
                <a:spcPts val="1000"/>
              </a:spcBef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01FE8-76B9-3BC1-E2CA-50C7FC3C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637" y="3877792"/>
            <a:ext cx="3748262" cy="2215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0A3E05-3593-8F01-9CBD-5F6379EEB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364" y="4376058"/>
            <a:ext cx="2808636" cy="12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44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ABD9-D085-90B2-BBAE-3954E183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69FB-B2E8-E336-BA87-2BD719DC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8A7AB-F8EF-13F7-C451-62A673D55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features optimized with XGBoost. Best F1-Score (Grid Search, RFE Features): 0.6798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(RFE Features): {'gamma': 0, 'learning_rate': 0.1, 'max_depth': 3, 'n_estimators': 120, 'reg_alpha': 0.1, 'reg_lambda': 0.1, 'scale_pos_weight': 14, 'subsample': 1.0}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04FBE-9B16-899B-734F-D4343426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56" y="3300890"/>
            <a:ext cx="4729843" cy="28116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2EAB8E-86E3-98BD-BF83-3800A2C36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658" y="3933624"/>
            <a:ext cx="3097287" cy="12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19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389D-6499-2BD5-2544-6BB98512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376E-628E-1C6A-9C54-E9F9B557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7EBC2-A2C2-3435-7EC6-18836427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 features optimized with XGBoost. Best F1-Score (Grid Search, SelectKBest Features): 0.7379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(SelectKBest Features): {'gamma': 0, '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0.3, 'max_depth': 3, 'n_estimators': 50, 'reg_alpha': 0, 'reg_lambda': 0.1, 'scale_pos_weight': 14, 'subsample': 1.0}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80008-9D14-7F4F-790F-6ABB8EEB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496" y="3350460"/>
            <a:ext cx="4638403" cy="2762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6810C9-0CF0-83AA-241F-F7CD4B7D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801" y="4134331"/>
            <a:ext cx="3657591" cy="118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8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33BE-BB6C-6BB6-C458-4BD683C6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DAC0-3152-622C-24FB-18389D9B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11E9C-A042-386A-2EC5-56258C76D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features optimized with XGBoost. Best F1-Score (Grid Search, Boruta Features): 0.8039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(Boruta Features): {'gamma': 0, 'learning_rate': 0.1, 'max_depth': 3, 'n_estimators': 200, 'reg_alpha': 0, 'reg_lambda': 0, 'scale_pos_weight': 14, 'subsample': 1.0}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6ABF5-839C-D625-654B-A6A427BF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610" y="3022059"/>
            <a:ext cx="5196024" cy="3090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F3B3F2-C0BC-C6C9-449E-DB7FE9839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42" y="3979417"/>
            <a:ext cx="3137244" cy="11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26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0653-692F-1CED-54FD-25863CE3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8893-62F0-3250-F388-EFD03B7A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AAF86-30B5-4342-79CC-5ACD7728C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optimized with XGBoost. Best F1-Score (Grid Search, SHAP Features): 0.7925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(SHAP Features): {'gamma': 0, 'learning_rate': 0.1, 'max_depth': 3, 'n_estimators': 260, 'reg_alpha': 0.1, 'reg_lambda': 0.1, 'scale_pos_weight': 14, 'subsample': 1.0}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C9321-58C4-B16A-F551-3F6B567F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15336"/>
            <a:ext cx="5173980" cy="3097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76543-5727-3ABD-1464-3E4BA25A5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942" y="3938025"/>
            <a:ext cx="3117281" cy="120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42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CB0E6-5BF6-67C9-6F05-48E2593B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7CB8-15CE-9BB7-6829-0B4529C4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AC02-5670-3AC2-E88C-C6E3D2B6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features optimized with XGBoost. Best F1-Score (Grid Search, L1 Features): 0.7895</a:t>
            </a:r>
          </a:p>
          <a:p>
            <a:pPr lvl="2">
              <a:spcBef>
                <a:spcPts val="1000"/>
              </a:spcBef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 (L1 Features): {'gamma': 0.3, 'learning_rate': 0.1, 'max_depth': 3, 'n_estimators': 250, 'reg_alpha': 0, 'reg_lambda': 0, 'scale_pos_weight': 14, 'subsample': 1.0}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AE032-E9A4-1984-0381-0BF04CF5C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7" y="3027400"/>
            <a:ext cx="5187043" cy="3085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E06518-C475-240F-245D-17A62301E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86" y="3938025"/>
            <a:ext cx="2958053" cy="12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48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4E9F-23C7-0C88-825E-3CC8C541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04D0-2F88-640C-2FB2-1663921C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7D1E2-F543-6462-DC12-E8B868B95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457200" lvl="1" indent="0" algn="ctr">
              <a:spcBef>
                <a:spcPts val="1000"/>
              </a:spcBef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Summary of Overlays and a Venn Diagram</a:t>
            </a:r>
          </a:p>
          <a:p>
            <a:pPr lvl="2">
              <a:spcBef>
                <a:spcPts val="1000"/>
              </a:spcBef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DDE18-4C87-1769-CC62-1E928BF7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94" y="2242851"/>
            <a:ext cx="3659402" cy="3869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3F61F4-AF96-0FED-73D9-1D19CA748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949" y="2242851"/>
            <a:ext cx="3740331" cy="386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6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1D43-1BFA-9A24-881B-E6D048DD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6CC7-EBD6-B47D-F0C3-85A94685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Creation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C3A56-6E79-F464-A9CC-972C479C9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Best F1-Scores Obtained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(28 features): 0.810811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Top 11 from SHAP ∩ L1 (39 features): 0.804124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SHAP ∩ L1 (~54 features): 0.793814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SHAP + L1 (153 features): 0.789744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Unique SHAP + Unique L1 (127 features): 0.789474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Features Selected by At Least 3 Methods (70 features): 0.786885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Selected by At Least Two Methods (131 features): 0.772093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 + SHAP ∩ L1 + At Least 4 Methods (57 features): 0.775956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93084-EFB2-8125-8624-01DC128E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440" y="2059928"/>
            <a:ext cx="3020925" cy="320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40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7622-DA0A-6F95-EEA4-493E5098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CA92-675A-776B-A31B-D511FB55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841390"/>
          </a:xfrm>
        </p:spPr>
        <p:txBody>
          <a:bodyPr/>
          <a:lstStyle/>
          <a:p>
            <a:pPr algn="ctr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5EAD-4A5F-78AE-3887-C5F9593CE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3486"/>
            <a:ext cx="10691265" cy="4349078"/>
          </a:xfrm>
        </p:spPr>
        <p:txBody>
          <a:bodyPr>
            <a:normAutofit/>
          </a:bodyPr>
          <a:lstStyle/>
          <a:p>
            <a:pPr marL="457200" lvl="1" indent="0">
              <a:spcBef>
                <a:spcPts val="1000"/>
              </a:spcBef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an extensive exercise of strategic data preprocessing, feature selection, and model testing, it was discovered that the </a:t>
            </a: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Boruta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 selection with a </a:t>
            </a: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Classifier 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tuned grid parameters using </a:t>
            </a:r>
            <a:r>
              <a:rPr 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yielded the most robust model.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Boruta-Selected 28 Features: ['17', '22', '34', '60', '65', '68', '74', '96', '113', '125', '141', '151', '240', '248', '284', '346', '347', '424', '427', '524', '555', '563', '565', '569', '570', '581', 'missing_73', 'missing_113’]</a:t>
            </a:r>
          </a:p>
          <a:p>
            <a:pPr lvl="3">
              <a:spcBef>
                <a:spcPts val="1000"/>
              </a:spcBef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Best Threshold: 0.55</a:t>
            </a:r>
          </a:p>
          <a:p>
            <a:pPr lvl="3">
              <a:spcBef>
                <a:spcPts val="1000"/>
              </a:spcBef>
              <a:defRPr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0.925926</a:t>
            </a:r>
          </a:p>
          <a:p>
            <a:pPr lvl="3">
              <a:spcBef>
                <a:spcPts val="1000"/>
              </a:spcBef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Recall: 0.721154		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ANA630 Advanced Analytic Applications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0.810811		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Randall Crawford      5/2/2025</a:t>
            </a:r>
          </a:p>
          <a:p>
            <a:pPr marL="3657600" lvl="8" indent="0">
              <a:spcBef>
                <a:spcPts val="1000"/>
              </a:spcBef>
              <a:buNone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1000"/>
              </a:spcBef>
              <a:buNone/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ts val="1000"/>
              </a:spcBef>
              <a:buNone/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1000"/>
              </a:spcBef>
              <a:defRPr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lvl="1">
              <a:spcBef>
                <a:spcPts val="1000"/>
              </a:spcBef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457200" lvl="1" indent="0">
              <a:spcBef>
                <a:spcPts val="1000"/>
              </a:spcBef>
              <a:buNone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srgbClr val="000000"/>
              </a:solidFill>
              <a:latin typeface="Calisto M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19353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Chronicle</Template>
  <TotalTime>799</TotalTime>
  <Words>5444</Words>
  <Application>Microsoft Office PowerPoint</Application>
  <PresentationFormat>Widescreen</PresentationFormat>
  <Paragraphs>669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Narrow</vt:lpstr>
      <vt:lpstr>Arial</vt:lpstr>
      <vt:lpstr>Calisto MT</vt:lpstr>
      <vt:lpstr>Times New Roman</vt:lpstr>
      <vt:lpstr>Univers Condensed</vt:lpstr>
      <vt:lpstr>ChronicleVTI</vt:lpstr>
      <vt:lpstr>UCI SECOM Dataset   Semiconductor Manufacturing Process  A Manufacturing Quality Perspective </vt:lpstr>
      <vt:lpstr>Objective Statement</vt:lpstr>
      <vt:lpstr>The SECOM Dataset (1567, 592)</vt:lpstr>
      <vt:lpstr>Strategic Data Preprocessing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Strategic Data Preprocessing (cont.)</vt:lpstr>
      <vt:lpstr>Feature Selection</vt:lpstr>
      <vt:lpstr>Feature Selection (cont.)</vt:lpstr>
      <vt:lpstr>Feature Selection (cont.)</vt:lpstr>
      <vt:lpstr>Feature Selection (cont.)</vt:lpstr>
      <vt:lpstr>Feature Selection (cont.)</vt:lpstr>
      <vt:lpstr>Feature Selection (cont.)</vt:lpstr>
      <vt:lpstr>Feature Selection (cont.)</vt:lpstr>
      <vt:lpstr>Feature Selection (cont.)</vt:lpstr>
      <vt:lpstr>Feature Selection (cont.)</vt:lpstr>
      <vt:lpstr>Machine Learning Model Creation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Machine Learning Model Creation (cont.)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Crawford</dc:creator>
  <cp:lastModifiedBy>Randall Crawford</cp:lastModifiedBy>
  <cp:revision>12</cp:revision>
  <dcterms:created xsi:type="dcterms:W3CDTF">2025-05-02T16:05:21Z</dcterms:created>
  <dcterms:modified xsi:type="dcterms:W3CDTF">2025-05-03T05:24:22Z</dcterms:modified>
</cp:coreProperties>
</file>